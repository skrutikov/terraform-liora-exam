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21" autoAdjust="0"/>
    <p:restoredTop sz="97386" autoAdjust="0"/>
  </p:normalViewPr>
  <p:slideViewPr>
    <p:cSldViewPr snapToGrid="0">
      <p:cViewPr>
        <p:scale>
          <a:sx n="150" d="100"/>
          <a:sy n="150" d="100"/>
        </p:scale>
        <p:origin x="45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AFDC1-E206-B0DB-5F98-D75B7AADD5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B3326-50D9-588B-A755-64D89F969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2B5BF-021B-CCF9-0068-D8B56BD62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D5E0-9785-4F56-82D1-A5DCCFBB336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01920-CD98-F9D3-8D1D-B7D9F6455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72C99-B585-9638-3ED9-6D4761F44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A8A4-BF63-4C03-87BC-3EFD2C55F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465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7366A-5204-02B4-D358-344F4B6EC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33D2A-E41C-58CC-ECC4-475E57F91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5CF95-FC08-1302-3F39-AB872A9BA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D5E0-9785-4F56-82D1-A5DCCFBB336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5BBD4-6FAD-8467-C125-B4D939ABF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903ED-AA4A-9007-3339-5B4B3895D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A8A4-BF63-4C03-87BC-3EFD2C55F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22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40603-3277-D93F-44A3-1EAF673B9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D4AE6-C2CB-1E5C-BE3C-EFCF6F922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2E3DF-D158-5CC0-C332-5541DF189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D5E0-9785-4F56-82D1-A5DCCFBB336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262E0-A729-78B3-0AEC-6D434698C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5A89A-ECB9-40B6-DA89-F8ED69A3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A8A4-BF63-4C03-87BC-3EFD2C55F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36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028B5-490B-D2AF-600C-7057C5621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86FC3-F669-C0CC-2FBA-856A9A3171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18370-836D-5B7A-C9DC-DCBF9C6F2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60DCF-A9C4-9749-1175-78E13EF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D5E0-9785-4F56-82D1-A5DCCFBB336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BA052-346F-D7AC-0C72-AFA714906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13E08-B84B-5AE7-2A80-54903838B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A8A4-BF63-4C03-87BC-3EFD2C55F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00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4C51D-D866-BBA0-D153-AB5BB55C9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70831-26BB-2814-DA0B-15D9B84D8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047E7-1708-C6A0-879F-283E8B051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AB3AA6-8AA3-E0A3-0B4D-8EDEC837E1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BEED09-F3D8-B723-9534-5A88284624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8F9379-F45F-619B-FCAA-DC31B58F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D5E0-9785-4F56-82D1-A5DCCFBB336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8B0253-AEEA-937F-2D37-763A7B8EE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76AB49-5A63-39B1-8E62-B9016E335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A8A4-BF63-4C03-87BC-3EFD2C55F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682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440FE-7F6A-4BDB-6474-E96B5D2CF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4DF004-A295-CB04-CB3F-841A9FAD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D5E0-9785-4F56-82D1-A5DCCFBB336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4A350-8963-1DA4-1BD6-B6ECF6F76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65A146-9EF5-CDAC-692E-50A94AF6E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A8A4-BF63-4C03-87BC-3EFD2C55F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39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5665F5-01F6-AF09-9FD9-A943D7C2E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D5E0-9785-4F56-82D1-A5DCCFBB336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B9E863-CF28-D4BA-C972-95CB384A3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DF4EE-4B36-7411-C559-E855B60A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A8A4-BF63-4C03-87BC-3EFD2C55F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96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72E7F-561E-1EA4-D083-915E3B80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8CB3A-E367-024C-414A-FC8C166CC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12976-1FCD-C46C-F9EB-691C56C05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B5116-2D05-1C4B-738B-BDCD10F5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D5E0-9785-4F56-82D1-A5DCCFBB336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21BD4-3131-718E-8406-0E39F7EE9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E3B551-FFFE-3E35-7166-F1548893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A8A4-BF63-4C03-87BC-3EFD2C55F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080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B872-F889-E5A7-06E5-DA68A9582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A474D6-23DF-A7EF-209D-718E8C5005E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30EE0E-38CF-65F0-D07F-A22F31927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9CFA6-F8D0-7A2C-D135-E603B9F4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D5E0-9785-4F56-82D1-A5DCCFBB336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134C6-FC16-371C-7E16-76C60F7DE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73D14-2533-626F-5565-CBBEC2C0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A8A4-BF63-4C03-87BC-3EFD2C55F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40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DF66-A721-3F4E-2880-D03221FDC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F5C91-663E-7DD6-0E0F-BC6720FA14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DD51C-E4EA-BABC-F1B1-9393C538C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D5E0-9785-4F56-82D1-A5DCCFBB336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20A50-6B8F-ECE5-D39C-339C1F907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0A6E6-04FA-3FC1-4E1B-EBA02F0A6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A8A4-BF63-4C03-87BC-3EFD2C55F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23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B7F9A9-F7DC-8E27-85F2-DF6C325E3E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767D5-DC02-7357-FD6C-2F554D6A1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8E034-5974-8FD9-5F40-502884B46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BD5E0-9785-4F56-82D1-A5DCCFBB336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1F5B-56F2-8173-F37C-5E129EDD3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58A5F-7B39-7ABC-C306-082127EB7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BA8A4-BF63-4C03-87BC-3EFD2C55F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71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4BBF29-6BE3-CE03-8452-211C184A5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9DD05-BB26-F55A-171A-56B4CEB52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C1506-27A4-9606-C3EF-7623F1972B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BD5E0-9785-4F56-82D1-A5DCCFBB3361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5FD6C-2940-F866-C5C6-E23BE68CC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F2197-1A13-844A-04E8-1EDD45DF7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0BA8A4-BF63-4C03-87BC-3EFD2C55F3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82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187">
            <a:extLst>
              <a:ext uri="{FF2B5EF4-FFF2-40B4-BE49-F238E27FC236}">
                <a16:creationId xmlns:a16="http://schemas.microsoft.com/office/drawing/2014/main" id="{E84EB00D-DA87-F8AE-3B1D-D0A979E6B8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Cube 44">
            <a:extLst>
              <a:ext uri="{FF2B5EF4-FFF2-40B4-BE49-F238E27FC236}">
                <a16:creationId xmlns:a16="http://schemas.microsoft.com/office/drawing/2014/main" id="{9257B11F-9269-0D07-2600-CD2AFE401E1F}"/>
              </a:ext>
            </a:extLst>
          </p:cNvPr>
          <p:cNvSpPr/>
          <p:nvPr/>
        </p:nvSpPr>
        <p:spPr>
          <a:xfrm>
            <a:off x="2520373" y="387506"/>
            <a:ext cx="726257" cy="6386674"/>
          </a:xfrm>
          <a:prstGeom prst="cube">
            <a:avLst>
              <a:gd name="adj" fmla="val 14229"/>
            </a:avLst>
          </a:prstGeom>
          <a:solidFill>
            <a:schemeClr val="bg1">
              <a:lumMod val="7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root</a:t>
            </a:r>
          </a:p>
        </p:txBody>
      </p:sp>
      <p:sp>
        <p:nvSpPr>
          <p:cNvPr id="47" name="Cube 46">
            <a:extLst>
              <a:ext uri="{FF2B5EF4-FFF2-40B4-BE49-F238E27FC236}">
                <a16:creationId xmlns:a16="http://schemas.microsoft.com/office/drawing/2014/main" id="{07EA02F6-62AF-72C7-7923-4ACCABBF70B2}"/>
              </a:ext>
            </a:extLst>
          </p:cNvPr>
          <p:cNvSpPr/>
          <p:nvPr/>
        </p:nvSpPr>
        <p:spPr>
          <a:xfrm>
            <a:off x="5206391" y="387650"/>
            <a:ext cx="4833882" cy="1489346"/>
          </a:xfrm>
          <a:prstGeom prst="cube">
            <a:avLst>
              <a:gd name="adj" fmla="val 7694"/>
            </a:avLst>
          </a:prstGeom>
          <a:solidFill>
            <a:schemeClr val="bg1">
              <a:lumMod val="7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rds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1" name="Cube 60">
            <a:extLst>
              <a:ext uri="{FF2B5EF4-FFF2-40B4-BE49-F238E27FC236}">
                <a16:creationId xmlns:a16="http://schemas.microsoft.com/office/drawing/2014/main" id="{8E4CE091-DF8E-2B0A-2838-4FFC0A343E60}"/>
              </a:ext>
            </a:extLst>
          </p:cNvPr>
          <p:cNvSpPr/>
          <p:nvPr/>
        </p:nvSpPr>
        <p:spPr>
          <a:xfrm>
            <a:off x="5206392" y="2020136"/>
            <a:ext cx="4833877" cy="1489346"/>
          </a:xfrm>
          <a:prstGeom prst="cube">
            <a:avLst>
              <a:gd name="adj" fmla="val 7694"/>
            </a:avLst>
          </a:prstGeom>
          <a:solidFill>
            <a:schemeClr val="bg1">
              <a:lumMod val="7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network</a:t>
            </a:r>
          </a:p>
        </p:txBody>
      </p:sp>
      <p:sp>
        <p:nvSpPr>
          <p:cNvPr id="63" name="Cube 62">
            <a:extLst>
              <a:ext uri="{FF2B5EF4-FFF2-40B4-BE49-F238E27FC236}">
                <a16:creationId xmlns:a16="http://schemas.microsoft.com/office/drawing/2014/main" id="{BBE7776F-36CE-DADA-7308-9071E22D94A2}"/>
              </a:ext>
            </a:extLst>
          </p:cNvPr>
          <p:cNvSpPr/>
          <p:nvPr/>
        </p:nvSpPr>
        <p:spPr>
          <a:xfrm>
            <a:off x="5206392" y="3652746"/>
            <a:ext cx="4833877" cy="1489346"/>
          </a:xfrm>
          <a:prstGeom prst="cube">
            <a:avLst>
              <a:gd name="adj" fmla="val 7694"/>
            </a:avLst>
          </a:prstGeom>
          <a:solidFill>
            <a:schemeClr val="bg1">
              <a:lumMod val="7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ec2</a:t>
            </a:r>
          </a:p>
        </p:txBody>
      </p:sp>
      <p:sp>
        <p:nvSpPr>
          <p:cNvPr id="65" name="Cube 64">
            <a:extLst>
              <a:ext uri="{FF2B5EF4-FFF2-40B4-BE49-F238E27FC236}">
                <a16:creationId xmlns:a16="http://schemas.microsoft.com/office/drawing/2014/main" id="{ADB72F8E-C940-2F80-B918-0C9C1A874909}"/>
              </a:ext>
            </a:extLst>
          </p:cNvPr>
          <p:cNvSpPr/>
          <p:nvPr/>
        </p:nvSpPr>
        <p:spPr>
          <a:xfrm>
            <a:off x="5206392" y="5268426"/>
            <a:ext cx="4833877" cy="1489346"/>
          </a:xfrm>
          <a:prstGeom prst="cube">
            <a:avLst>
              <a:gd name="adj" fmla="val 7694"/>
            </a:avLst>
          </a:prstGeom>
          <a:solidFill>
            <a:schemeClr val="bg1">
              <a:lumMod val="7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ebs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BFCE372-CF80-5EFD-28A7-81913871478A}"/>
              </a:ext>
            </a:extLst>
          </p:cNvPr>
          <p:cNvSpPr/>
          <p:nvPr/>
        </p:nvSpPr>
        <p:spPr>
          <a:xfrm>
            <a:off x="10280473" y="2697370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private_subnet_ids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9EA2D04-9652-DAAB-1C92-8E881CA1984E}"/>
              </a:ext>
            </a:extLst>
          </p:cNvPr>
          <p:cNvSpPr/>
          <p:nvPr/>
        </p:nvSpPr>
        <p:spPr>
          <a:xfrm>
            <a:off x="10276016" y="2422196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rds_security_group_id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7DF25CED-C15D-09F2-3CCD-AC44C8E53B96}"/>
              </a:ext>
            </a:extLst>
          </p:cNvPr>
          <p:cNvCxnSpPr>
            <a:cxnSpLocks/>
            <a:stCxn id="12" idx="2"/>
            <a:endCxn id="995" idx="0"/>
          </p:cNvCxnSpPr>
          <p:nvPr/>
        </p:nvCxnSpPr>
        <p:spPr>
          <a:xfrm rot="16200000" flipH="1">
            <a:off x="6284626" y="-426096"/>
            <a:ext cx="716760" cy="4822541"/>
          </a:xfrm>
          <a:prstGeom prst="bentConnector3">
            <a:avLst>
              <a:gd name="adj1" fmla="val 44931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6B0F6556-F2B2-3536-0912-728C22E106A9}"/>
              </a:ext>
            </a:extLst>
          </p:cNvPr>
          <p:cNvCxnSpPr>
            <a:cxnSpLocks/>
            <a:endCxn id="759" idx="1"/>
          </p:cNvCxnSpPr>
          <p:nvPr/>
        </p:nvCxnSpPr>
        <p:spPr>
          <a:xfrm>
            <a:off x="3254076" y="733177"/>
            <a:ext cx="4548942" cy="394324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10B288F0-5973-FF3D-4A73-67FD0E70F66F}"/>
              </a:ext>
            </a:extLst>
          </p:cNvPr>
          <p:cNvCxnSpPr>
            <a:cxnSpLocks/>
            <a:endCxn id="759" idx="1"/>
          </p:cNvCxnSpPr>
          <p:nvPr/>
        </p:nvCxnSpPr>
        <p:spPr>
          <a:xfrm>
            <a:off x="3254077" y="988227"/>
            <a:ext cx="4548941" cy="139274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2DF8C4EA-1FDB-1708-2A0C-CB000F169672}"/>
              </a:ext>
            </a:extLst>
          </p:cNvPr>
          <p:cNvCxnSpPr>
            <a:cxnSpLocks/>
            <a:endCxn id="759" idx="1"/>
          </p:cNvCxnSpPr>
          <p:nvPr/>
        </p:nvCxnSpPr>
        <p:spPr>
          <a:xfrm flipV="1">
            <a:off x="3254076" y="1127501"/>
            <a:ext cx="4548942" cy="14178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Rectangle 311">
            <a:extLst>
              <a:ext uri="{FF2B5EF4-FFF2-40B4-BE49-F238E27FC236}">
                <a16:creationId xmlns:a16="http://schemas.microsoft.com/office/drawing/2014/main" id="{BF6E2C15-8E2B-C6F5-3B11-006BE62E01E1}"/>
              </a:ext>
            </a:extLst>
          </p:cNvPr>
          <p:cNvSpPr/>
          <p:nvPr/>
        </p:nvSpPr>
        <p:spPr>
          <a:xfrm>
            <a:off x="10276016" y="3197468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web_security_group_id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15" name="Rectangle 314">
            <a:extLst>
              <a:ext uri="{FF2B5EF4-FFF2-40B4-BE49-F238E27FC236}">
                <a16:creationId xmlns:a16="http://schemas.microsoft.com/office/drawing/2014/main" id="{EC67ABDC-2A69-AAC9-24BD-1E8CAA8DF904}"/>
              </a:ext>
            </a:extLst>
          </p:cNvPr>
          <p:cNvSpPr/>
          <p:nvPr/>
        </p:nvSpPr>
        <p:spPr>
          <a:xfrm>
            <a:off x="10276016" y="2906941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public_subnet_id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BC014F30-B5F6-F750-42DF-D4E9A22D8D1A}"/>
              </a:ext>
            </a:extLst>
          </p:cNvPr>
          <p:cNvCxnSpPr>
            <a:cxnSpLocks/>
            <a:stCxn id="1033" idx="2"/>
          </p:cNvCxnSpPr>
          <p:nvPr/>
        </p:nvCxnSpPr>
        <p:spPr>
          <a:xfrm flipH="1">
            <a:off x="3246630" y="3285661"/>
            <a:ext cx="3532025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34BCC3E4-72C2-2AAA-6644-1DA749E30979}"/>
              </a:ext>
            </a:extLst>
          </p:cNvPr>
          <p:cNvCxnSpPr>
            <a:cxnSpLocks/>
            <a:endCxn id="315" idx="1"/>
          </p:cNvCxnSpPr>
          <p:nvPr/>
        </p:nvCxnSpPr>
        <p:spPr>
          <a:xfrm>
            <a:off x="9695614" y="2996483"/>
            <a:ext cx="580402" cy="0"/>
          </a:xfrm>
          <a:prstGeom prst="straightConnector1">
            <a:avLst/>
          </a:prstGeom>
          <a:ln>
            <a:solidFill>
              <a:schemeClr val="accent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Arrow Connector 318">
            <a:extLst>
              <a:ext uri="{FF2B5EF4-FFF2-40B4-BE49-F238E27FC236}">
                <a16:creationId xmlns:a16="http://schemas.microsoft.com/office/drawing/2014/main" id="{40CEC93D-0826-CB19-B0B0-2DD43F3A7971}"/>
              </a:ext>
            </a:extLst>
          </p:cNvPr>
          <p:cNvCxnSpPr>
            <a:cxnSpLocks/>
            <a:stCxn id="999" idx="3"/>
            <a:endCxn id="312" idx="1"/>
          </p:cNvCxnSpPr>
          <p:nvPr/>
        </p:nvCxnSpPr>
        <p:spPr>
          <a:xfrm>
            <a:off x="9695614" y="3285661"/>
            <a:ext cx="580402" cy="1349"/>
          </a:xfrm>
          <a:prstGeom prst="straightConnector1">
            <a:avLst/>
          </a:prstGeom>
          <a:ln>
            <a:solidFill>
              <a:schemeClr val="accent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Arrow Connector 402">
            <a:extLst>
              <a:ext uri="{FF2B5EF4-FFF2-40B4-BE49-F238E27FC236}">
                <a16:creationId xmlns:a16="http://schemas.microsoft.com/office/drawing/2014/main" id="{160B9708-4CA7-97D4-09E9-FFF0A8B3FC0C}"/>
              </a:ext>
            </a:extLst>
          </p:cNvPr>
          <p:cNvCxnSpPr>
            <a:cxnSpLocks/>
            <a:endCxn id="74" idx="1"/>
          </p:cNvCxnSpPr>
          <p:nvPr/>
        </p:nvCxnSpPr>
        <p:spPr>
          <a:xfrm>
            <a:off x="9695614" y="2786912"/>
            <a:ext cx="584859" cy="0"/>
          </a:xfrm>
          <a:prstGeom prst="straightConnector1">
            <a:avLst/>
          </a:prstGeom>
          <a:ln>
            <a:solidFill>
              <a:schemeClr val="accent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Arrow Connector 403">
            <a:extLst>
              <a:ext uri="{FF2B5EF4-FFF2-40B4-BE49-F238E27FC236}">
                <a16:creationId xmlns:a16="http://schemas.microsoft.com/office/drawing/2014/main" id="{85AF0D9B-826D-5EEA-83E7-70FAB6865BF4}"/>
              </a:ext>
            </a:extLst>
          </p:cNvPr>
          <p:cNvCxnSpPr>
            <a:cxnSpLocks/>
            <a:stCxn id="995" idx="3"/>
            <a:endCxn id="83" idx="1"/>
          </p:cNvCxnSpPr>
          <p:nvPr/>
        </p:nvCxnSpPr>
        <p:spPr>
          <a:xfrm flipV="1">
            <a:off x="9695614" y="2511738"/>
            <a:ext cx="580402" cy="121"/>
          </a:xfrm>
          <a:prstGeom prst="straightConnector1">
            <a:avLst/>
          </a:prstGeom>
          <a:ln>
            <a:solidFill>
              <a:schemeClr val="accent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: Elbow 412">
            <a:extLst>
              <a:ext uri="{FF2B5EF4-FFF2-40B4-BE49-F238E27FC236}">
                <a16:creationId xmlns:a16="http://schemas.microsoft.com/office/drawing/2014/main" id="{B0C5170D-2AB7-E20F-8412-084FD76712DC}"/>
              </a:ext>
            </a:extLst>
          </p:cNvPr>
          <p:cNvCxnSpPr>
            <a:cxnSpLocks/>
            <a:stCxn id="83" idx="0"/>
          </p:cNvCxnSpPr>
          <p:nvPr/>
        </p:nvCxnSpPr>
        <p:spPr>
          <a:xfrm rot="16200000" flipV="1">
            <a:off x="9024204" y="528157"/>
            <a:ext cx="682530" cy="3105548"/>
          </a:xfrm>
          <a:prstGeom prst="bent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: Elbow 418">
            <a:extLst>
              <a:ext uri="{FF2B5EF4-FFF2-40B4-BE49-F238E27FC236}">
                <a16:creationId xmlns:a16="http://schemas.microsoft.com/office/drawing/2014/main" id="{DEA13547-FB4C-E101-B1B7-F966472950BB}"/>
              </a:ext>
            </a:extLst>
          </p:cNvPr>
          <p:cNvCxnSpPr>
            <a:cxnSpLocks/>
            <a:stCxn id="74" idx="3"/>
          </p:cNvCxnSpPr>
          <p:nvPr/>
        </p:nvCxnSpPr>
        <p:spPr>
          <a:xfrm flipH="1" flipV="1">
            <a:off x="9093140" y="1226089"/>
            <a:ext cx="2471787" cy="1560823"/>
          </a:xfrm>
          <a:prstGeom prst="bentConnector3">
            <a:avLst>
              <a:gd name="adj1" fmla="val -9248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: Elbow 467">
            <a:extLst>
              <a:ext uri="{FF2B5EF4-FFF2-40B4-BE49-F238E27FC236}">
                <a16:creationId xmlns:a16="http://schemas.microsoft.com/office/drawing/2014/main" id="{DB0F603A-A4DA-B2C7-3401-77A5077CE1AA}"/>
              </a:ext>
            </a:extLst>
          </p:cNvPr>
          <p:cNvCxnSpPr>
            <a:cxnSpLocks/>
            <a:stCxn id="315" idx="3"/>
            <a:endCxn id="33" idx="0"/>
          </p:cNvCxnSpPr>
          <p:nvPr/>
        </p:nvCxnSpPr>
        <p:spPr>
          <a:xfrm flipH="1">
            <a:off x="8302998" y="2996483"/>
            <a:ext cx="3257472" cy="1343765"/>
          </a:xfrm>
          <a:prstGeom prst="bentConnector4">
            <a:avLst>
              <a:gd name="adj1" fmla="val -7018"/>
              <a:gd name="adj2" fmla="val 77059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: Elbow 470">
            <a:extLst>
              <a:ext uri="{FF2B5EF4-FFF2-40B4-BE49-F238E27FC236}">
                <a16:creationId xmlns:a16="http://schemas.microsoft.com/office/drawing/2014/main" id="{3F45D464-9BB4-E248-5761-B1DFF5C11306}"/>
              </a:ext>
            </a:extLst>
          </p:cNvPr>
          <p:cNvCxnSpPr>
            <a:cxnSpLocks/>
            <a:stCxn id="312" idx="2"/>
            <a:endCxn id="1068" idx="0"/>
          </p:cNvCxnSpPr>
          <p:nvPr/>
        </p:nvCxnSpPr>
        <p:spPr>
          <a:xfrm rot="5400000">
            <a:off x="8991151" y="2413156"/>
            <a:ext cx="963696" cy="289048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Rectangle 528">
            <a:extLst>
              <a:ext uri="{FF2B5EF4-FFF2-40B4-BE49-F238E27FC236}">
                <a16:creationId xmlns:a16="http://schemas.microsoft.com/office/drawing/2014/main" id="{0847954D-CF5D-407D-CA21-A664A64C7DA2}"/>
              </a:ext>
            </a:extLst>
          </p:cNvPr>
          <p:cNvSpPr/>
          <p:nvPr/>
        </p:nvSpPr>
        <p:spPr>
          <a:xfrm>
            <a:off x="10276016" y="723675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95000"/>
                  </a:schemeClr>
                </a:solidFill>
              </a:rPr>
              <a:t>endpoint</a:t>
            </a: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101D6476-A917-0FD9-5B17-5DC95F6AADC9}"/>
              </a:ext>
            </a:extLst>
          </p:cNvPr>
          <p:cNvSpPr/>
          <p:nvPr/>
        </p:nvSpPr>
        <p:spPr>
          <a:xfrm>
            <a:off x="10271559" y="473248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95000"/>
                  </a:schemeClr>
                </a:solidFill>
              </a:rPr>
              <a:t>address</a:t>
            </a: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B1223DA6-B2A5-1537-42E7-8105B289556D}"/>
              </a:ext>
            </a:extLst>
          </p:cNvPr>
          <p:cNvSpPr/>
          <p:nvPr/>
        </p:nvSpPr>
        <p:spPr>
          <a:xfrm>
            <a:off x="10271560" y="960756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95000"/>
                  </a:schemeClr>
                </a:solidFill>
              </a:rPr>
              <a:t>port</a:t>
            </a:r>
          </a:p>
        </p:txBody>
      </p:sp>
      <p:cxnSp>
        <p:nvCxnSpPr>
          <p:cNvPr id="539" name="Connector: Elbow 538">
            <a:extLst>
              <a:ext uri="{FF2B5EF4-FFF2-40B4-BE49-F238E27FC236}">
                <a16:creationId xmlns:a16="http://schemas.microsoft.com/office/drawing/2014/main" id="{31AEE698-4C83-F7B8-461D-CC5BDE1D026D}"/>
              </a:ext>
            </a:extLst>
          </p:cNvPr>
          <p:cNvCxnSpPr>
            <a:cxnSpLocks/>
            <a:stCxn id="530" idx="3"/>
            <a:endCxn id="45" idx="0"/>
          </p:cNvCxnSpPr>
          <p:nvPr/>
        </p:nvCxnSpPr>
        <p:spPr>
          <a:xfrm flipH="1" flipV="1">
            <a:off x="2935171" y="387506"/>
            <a:ext cx="8620842" cy="175284"/>
          </a:xfrm>
          <a:prstGeom prst="bentConnector4">
            <a:avLst>
              <a:gd name="adj1" fmla="val -2652"/>
              <a:gd name="adj2" fmla="val 230417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: Elbow 541">
            <a:extLst>
              <a:ext uri="{FF2B5EF4-FFF2-40B4-BE49-F238E27FC236}">
                <a16:creationId xmlns:a16="http://schemas.microsoft.com/office/drawing/2014/main" id="{F5A3A303-8AF2-FA97-25F0-2CCF30AAC03D}"/>
              </a:ext>
            </a:extLst>
          </p:cNvPr>
          <p:cNvCxnSpPr>
            <a:cxnSpLocks/>
            <a:stCxn id="529" idx="3"/>
            <a:endCxn id="45" idx="0"/>
          </p:cNvCxnSpPr>
          <p:nvPr/>
        </p:nvCxnSpPr>
        <p:spPr>
          <a:xfrm flipH="1" flipV="1">
            <a:off x="2935171" y="387506"/>
            <a:ext cx="8625299" cy="425711"/>
          </a:xfrm>
          <a:prstGeom prst="bentConnector4">
            <a:avLst>
              <a:gd name="adj1" fmla="val -2650"/>
              <a:gd name="adj2" fmla="val 153698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: Elbow 544">
            <a:extLst>
              <a:ext uri="{FF2B5EF4-FFF2-40B4-BE49-F238E27FC236}">
                <a16:creationId xmlns:a16="http://schemas.microsoft.com/office/drawing/2014/main" id="{77FDA893-6E35-CAA0-52F5-26B5A8475FFA}"/>
              </a:ext>
            </a:extLst>
          </p:cNvPr>
          <p:cNvCxnSpPr>
            <a:cxnSpLocks/>
            <a:stCxn id="531" idx="3"/>
            <a:endCxn id="45" idx="0"/>
          </p:cNvCxnSpPr>
          <p:nvPr/>
        </p:nvCxnSpPr>
        <p:spPr>
          <a:xfrm flipH="1" flipV="1">
            <a:off x="2935171" y="387506"/>
            <a:ext cx="8620843" cy="662792"/>
          </a:xfrm>
          <a:prstGeom prst="bentConnector4">
            <a:avLst>
              <a:gd name="adj1" fmla="val -2652"/>
              <a:gd name="adj2" fmla="val 13449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2" name="Rectangle 571">
            <a:extLst>
              <a:ext uri="{FF2B5EF4-FFF2-40B4-BE49-F238E27FC236}">
                <a16:creationId xmlns:a16="http://schemas.microsoft.com/office/drawing/2014/main" id="{A4C4C104-61B1-572E-775C-2C8F78A595C9}"/>
              </a:ext>
            </a:extLst>
          </p:cNvPr>
          <p:cNvSpPr/>
          <p:nvPr/>
        </p:nvSpPr>
        <p:spPr>
          <a:xfrm>
            <a:off x="10271560" y="4303067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availability_zone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840E1EC2-C0D7-7E93-DBCE-F0E386873764}"/>
              </a:ext>
            </a:extLst>
          </p:cNvPr>
          <p:cNvSpPr/>
          <p:nvPr/>
        </p:nvSpPr>
        <p:spPr>
          <a:xfrm>
            <a:off x="10271559" y="4548694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instance_id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584" name="Connector: Elbow 583">
            <a:extLst>
              <a:ext uri="{FF2B5EF4-FFF2-40B4-BE49-F238E27FC236}">
                <a16:creationId xmlns:a16="http://schemas.microsoft.com/office/drawing/2014/main" id="{6FA03BE1-CAFE-0579-BE76-E3A0763B4D8E}"/>
              </a:ext>
            </a:extLst>
          </p:cNvPr>
          <p:cNvCxnSpPr>
            <a:cxnSpLocks/>
            <a:stCxn id="572" idx="3"/>
            <a:endCxn id="1114" idx="3"/>
          </p:cNvCxnSpPr>
          <p:nvPr/>
        </p:nvCxnSpPr>
        <p:spPr>
          <a:xfrm flipH="1">
            <a:off x="8313728" y="4392609"/>
            <a:ext cx="3242286" cy="1972055"/>
          </a:xfrm>
          <a:prstGeom prst="bentConnector3">
            <a:avLst>
              <a:gd name="adj1" fmla="val -7051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Connector: Elbow 584">
            <a:extLst>
              <a:ext uri="{FF2B5EF4-FFF2-40B4-BE49-F238E27FC236}">
                <a16:creationId xmlns:a16="http://schemas.microsoft.com/office/drawing/2014/main" id="{BAFFC148-355B-4381-238A-B0D84BCA4C1A}"/>
              </a:ext>
            </a:extLst>
          </p:cNvPr>
          <p:cNvCxnSpPr>
            <a:cxnSpLocks/>
            <a:stCxn id="573" idx="2"/>
            <a:endCxn id="1114" idx="3"/>
          </p:cNvCxnSpPr>
          <p:nvPr/>
        </p:nvCxnSpPr>
        <p:spPr>
          <a:xfrm rot="5400000">
            <a:off x="8795314" y="4246192"/>
            <a:ext cx="1636886" cy="2600058"/>
          </a:xfrm>
          <a:prstGeom prst="bent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Straight Arrow Connector 595">
            <a:extLst>
              <a:ext uri="{FF2B5EF4-FFF2-40B4-BE49-F238E27FC236}">
                <a16:creationId xmlns:a16="http://schemas.microsoft.com/office/drawing/2014/main" id="{97499168-E7E0-8E82-CDFD-241287C1EADD}"/>
              </a:ext>
            </a:extLst>
          </p:cNvPr>
          <p:cNvCxnSpPr>
            <a:cxnSpLocks/>
            <a:endCxn id="1114" idx="1"/>
          </p:cNvCxnSpPr>
          <p:nvPr/>
        </p:nvCxnSpPr>
        <p:spPr>
          <a:xfrm>
            <a:off x="3256174" y="6364664"/>
            <a:ext cx="3676758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Straight Arrow Connector 620">
            <a:extLst>
              <a:ext uri="{FF2B5EF4-FFF2-40B4-BE49-F238E27FC236}">
                <a16:creationId xmlns:a16="http://schemas.microsoft.com/office/drawing/2014/main" id="{5CDD27FB-F667-BC5C-BB75-50C4A3CA5D1A}"/>
              </a:ext>
            </a:extLst>
          </p:cNvPr>
          <p:cNvCxnSpPr>
            <a:cxnSpLocks/>
          </p:cNvCxnSpPr>
          <p:nvPr/>
        </p:nvCxnSpPr>
        <p:spPr>
          <a:xfrm flipH="1">
            <a:off x="514728" y="5420325"/>
            <a:ext cx="2005645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2" name="Straight Arrow Connector 621">
            <a:extLst>
              <a:ext uri="{FF2B5EF4-FFF2-40B4-BE49-F238E27FC236}">
                <a16:creationId xmlns:a16="http://schemas.microsoft.com/office/drawing/2014/main" id="{41E5D8F3-E898-941D-BF29-7AB0A61CA132}"/>
              </a:ext>
            </a:extLst>
          </p:cNvPr>
          <p:cNvCxnSpPr>
            <a:cxnSpLocks/>
          </p:cNvCxnSpPr>
          <p:nvPr/>
        </p:nvCxnSpPr>
        <p:spPr>
          <a:xfrm flipH="1">
            <a:off x="514728" y="5152754"/>
            <a:ext cx="1996101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3" name="Straight Arrow Connector 622">
            <a:extLst>
              <a:ext uri="{FF2B5EF4-FFF2-40B4-BE49-F238E27FC236}">
                <a16:creationId xmlns:a16="http://schemas.microsoft.com/office/drawing/2014/main" id="{4BA845C5-DC4F-3E58-C66D-CA2D0F369895}"/>
              </a:ext>
            </a:extLst>
          </p:cNvPr>
          <p:cNvCxnSpPr>
            <a:cxnSpLocks/>
          </p:cNvCxnSpPr>
          <p:nvPr/>
        </p:nvCxnSpPr>
        <p:spPr>
          <a:xfrm flipH="1">
            <a:off x="514728" y="4881893"/>
            <a:ext cx="2005644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: Elbow 658">
            <a:extLst>
              <a:ext uri="{FF2B5EF4-FFF2-40B4-BE49-F238E27FC236}">
                <a16:creationId xmlns:a16="http://schemas.microsoft.com/office/drawing/2014/main" id="{C40A0251-9A11-6DCC-A81B-E1EEC7FC0D39}"/>
              </a:ext>
            </a:extLst>
          </p:cNvPr>
          <p:cNvCxnSpPr>
            <a:cxnSpLocks/>
            <a:stCxn id="28" idx="0"/>
          </p:cNvCxnSpPr>
          <p:nvPr/>
        </p:nvCxnSpPr>
        <p:spPr>
          <a:xfrm rot="16200000" flipV="1">
            <a:off x="5339060" y="1992786"/>
            <a:ext cx="255032" cy="4439891"/>
          </a:xfrm>
          <a:prstGeom prst="bent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7" name="Rectangle 756">
            <a:extLst>
              <a:ext uri="{FF2B5EF4-FFF2-40B4-BE49-F238E27FC236}">
                <a16:creationId xmlns:a16="http://schemas.microsoft.com/office/drawing/2014/main" id="{241ED03A-B9CE-6D69-FCED-7401610A9412}"/>
              </a:ext>
            </a:extLst>
          </p:cNvPr>
          <p:cNvSpPr/>
          <p:nvPr/>
        </p:nvSpPr>
        <p:spPr>
          <a:xfrm>
            <a:off x="6530021" y="1461535"/>
            <a:ext cx="1282674" cy="3366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ysClr val="windowText" lastClr="000000"/>
                </a:solidFill>
              </a:rPr>
              <a:t>aws_db_subnet_group</a:t>
            </a:r>
            <a:endParaRPr 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759" name="Rectangle 758">
            <a:extLst>
              <a:ext uri="{FF2B5EF4-FFF2-40B4-BE49-F238E27FC236}">
                <a16:creationId xmlns:a16="http://schemas.microsoft.com/office/drawing/2014/main" id="{45A5FCFF-D86F-A8E0-17B7-4179B600B08A}"/>
              </a:ext>
            </a:extLst>
          </p:cNvPr>
          <p:cNvSpPr/>
          <p:nvPr/>
        </p:nvSpPr>
        <p:spPr>
          <a:xfrm>
            <a:off x="7803018" y="959197"/>
            <a:ext cx="1282674" cy="3366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ysClr val="windowText" lastClr="000000"/>
                </a:solidFill>
              </a:rPr>
              <a:t>aws_db_instance</a:t>
            </a:r>
            <a:endParaRPr 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772" name="Straight Arrow Connector 771">
            <a:extLst>
              <a:ext uri="{FF2B5EF4-FFF2-40B4-BE49-F238E27FC236}">
                <a16:creationId xmlns:a16="http://schemas.microsoft.com/office/drawing/2014/main" id="{CBE4670D-14CD-0C82-5C5A-15596A260E20}"/>
              </a:ext>
            </a:extLst>
          </p:cNvPr>
          <p:cNvCxnSpPr>
            <a:cxnSpLocks/>
          </p:cNvCxnSpPr>
          <p:nvPr/>
        </p:nvCxnSpPr>
        <p:spPr>
          <a:xfrm>
            <a:off x="514728" y="3103126"/>
            <a:ext cx="1996101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7" name="Straight Arrow Connector 776">
            <a:extLst>
              <a:ext uri="{FF2B5EF4-FFF2-40B4-BE49-F238E27FC236}">
                <a16:creationId xmlns:a16="http://schemas.microsoft.com/office/drawing/2014/main" id="{0204BB55-40B4-A210-B3BC-E9C2ABB5A46E}"/>
              </a:ext>
            </a:extLst>
          </p:cNvPr>
          <p:cNvCxnSpPr>
            <a:cxnSpLocks/>
          </p:cNvCxnSpPr>
          <p:nvPr/>
        </p:nvCxnSpPr>
        <p:spPr>
          <a:xfrm>
            <a:off x="514728" y="3376348"/>
            <a:ext cx="1996101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9" name="Straight Arrow Connector 778">
            <a:extLst>
              <a:ext uri="{FF2B5EF4-FFF2-40B4-BE49-F238E27FC236}">
                <a16:creationId xmlns:a16="http://schemas.microsoft.com/office/drawing/2014/main" id="{EAEDFD18-2D83-AD7F-AD5B-B3FD5F192B7E}"/>
              </a:ext>
            </a:extLst>
          </p:cNvPr>
          <p:cNvCxnSpPr>
            <a:cxnSpLocks/>
          </p:cNvCxnSpPr>
          <p:nvPr/>
        </p:nvCxnSpPr>
        <p:spPr>
          <a:xfrm>
            <a:off x="514728" y="3641558"/>
            <a:ext cx="1996101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1" name="Straight Arrow Connector 780">
            <a:extLst>
              <a:ext uri="{FF2B5EF4-FFF2-40B4-BE49-F238E27FC236}">
                <a16:creationId xmlns:a16="http://schemas.microsoft.com/office/drawing/2014/main" id="{8CC1A37F-260A-CB5D-C210-1E02E42BB123}"/>
              </a:ext>
            </a:extLst>
          </p:cNvPr>
          <p:cNvCxnSpPr>
            <a:cxnSpLocks/>
          </p:cNvCxnSpPr>
          <p:nvPr/>
        </p:nvCxnSpPr>
        <p:spPr>
          <a:xfrm>
            <a:off x="514728" y="3906768"/>
            <a:ext cx="1996101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4" name="Straight Arrow Connector 783">
            <a:extLst>
              <a:ext uri="{FF2B5EF4-FFF2-40B4-BE49-F238E27FC236}">
                <a16:creationId xmlns:a16="http://schemas.microsoft.com/office/drawing/2014/main" id="{ABF64636-B92D-0B2A-BAC0-E752DA2CA1F2}"/>
              </a:ext>
            </a:extLst>
          </p:cNvPr>
          <p:cNvCxnSpPr>
            <a:cxnSpLocks/>
          </p:cNvCxnSpPr>
          <p:nvPr/>
        </p:nvCxnSpPr>
        <p:spPr>
          <a:xfrm>
            <a:off x="514728" y="4169068"/>
            <a:ext cx="1996101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1" name="Connector: Elbow 820">
            <a:extLst>
              <a:ext uri="{FF2B5EF4-FFF2-40B4-BE49-F238E27FC236}">
                <a16:creationId xmlns:a16="http://schemas.microsoft.com/office/drawing/2014/main" id="{10F00C97-CA92-37E4-CB34-F2115B7E2445}"/>
              </a:ext>
            </a:extLst>
          </p:cNvPr>
          <p:cNvCxnSpPr>
            <a:cxnSpLocks/>
            <a:endCxn id="759" idx="1"/>
          </p:cNvCxnSpPr>
          <p:nvPr/>
        </p:nvCxnSpPr>
        <p:spPr>
          <a:xfrm flipV="1">
            <a:off x="3254078" y="1127501"/>
            <a:ext cx="4548940" cy="405983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6" name="Rectangle 885">
            <a:extLst>
              <a:ext uri="{FF2B5EF4-FFF2-40B4-BE49-F238E27FC236}">
                <a16:creationId xmlns:a16="http://schemas.microsoft.com/office/drawing/2014/main" id="{405F6BC0-6CC6-77A8-A7ED-537BFE81B95D}"/>
              </a:ext>
            </a:extLst>
          </p:cNvPr>
          <p:cNvSpPr/>
          <p:nvPr/>
        </p:nvSpPr>
        <p:spPr>
          <a:xfrm>
            <a:off x="5400459" y="2223739"/>
            <a:ext cx="1282674" cy="3366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ysClr val="windowText" lastClr="000000"/>
                </a:solidFill>
              </a:rPr>
              <a:t>aws_vpc</a:t>
            </a:r>
            <a:endParaRPr 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965" name="Connector: Elbow 964">
            <a:extLst>
              <a:ext uri="{FF2B5EF4-FFF2-40B4-BE49-F238E27FC236}">
                <a16:creationId xmlns:a16="http://schemas.microsoft.com/office/drawing/2014/main" id="{D8C71EC0-B096-349A-90BF-508BA675FA65}"/>
              </a:ext>
            </a:extLst>
          </p:cNvPr>
          <p:cNvCxnSpPr>
            <a:cxnSpLocks/>
            <a:stCxn id="37" idx="3"/>
            <a:endCxn id="531" idx="1"/>
          </p:cNvCxnSpPr>
          <p:nvPr/>
        </p:nvCxnSpPr>
        <p:spPr>
          <a:xfrm>
            <a:off x="9085692" y="1045779"/>
            <a:ext cx="1185868" cy="451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7" name="Connector: Elbow 976">
            <a:extLst>
              <a:ext uri="{FF2B5EF4-FFF2-40B4-BE49-F238E27FC236}">
                <a16:creationId xmlns:a16="http://schemas.microsoft.com/office/drawing/2014/main" id="{A32D01BA-59E1-EDBA-5D7C-378784D883E6}"/>
              </a:ext>
            </a:extLst>
          </p:cNvPr>
          <p:cNvCxnSpPr>
            <a:cxnSpLocks/>
            <a:stCxn id="37" idx="3"/>
            <a:endCxn id="530" idx="1"/>
          </p:cNvCxnSpPr>
          <p:nvPr/>
        </p:nvCxnSpPr>
        <p:spPr>
          <a:xfrm flipV="1">
            <a:off x="9085692" y="562790"/>
            <a:ext cx="1185867" cy="48298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0" name="Connector: Elbow 979">
            <a:extLst>
              <a:ext uri="{FF2B5EF4-FFF2-40B4-BE49-F238E27FC236}">
                <a16:creationId xmlns:a16="http://schemas.microsoft.com/office/drawing/2014/main" id="{84F2F6FF-20FE-FC98-DBCD-F70C3E2E4A5A}"/>
              </a:ext>
            </a:extLst>
          </p:cNvPr>
          <p:cNvCxnSpPr>
            <a:cxnSpLocks/>
            <a:stCxn id="37" idx="3"/>
            <a:endCxn id="529" idx="1"/>
          </p:cNvCxnSpPr>
          <p:nvPr/>
        </p:nvCxnSpPr>
        <p:spPr>
          <a:xfrm flipV="1">
            <a:off x="9085692" y="813217"/>
            <a:ext cx="1190324" cy="232562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5" name="Rectangle 994">
            <a:extLst>
              <a:ext uri="{FF2B5EF4-FFF2-40B4-BE49-F238E27FC236}">
                <a16:creationId xmlns:a16="http://schemas.microsoft.com/office/drawing/2014/main" id="{4E5A3B43-9A3E-6609-C4C2-A2AF20FF770F}"/>
              </a:ext>
            </a:extLst>
          </p:cNvPr>
          <p:cNvSpPr/>
          <p:nvPr/>
        </p:nvSpPr>
        <p:spPr>
          <a:xfrm>
            <a:off x="8412940" y="2343555"/>
            <a:ext cx="1282674" cy="3366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ysClr val="windowText" lastClr="000000"/>
                </a:solidFill>
              </a:rPr>
              <a:t>aws_security_group.rds</a:t>
            </a:r>
            <a:endParaRPr lang="en-US" sz="800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700" dirty="0">
                <a:solidFill>
                  <a:sysClr val="windowText" lastClr="000000"/>
                </a:solidFill>
              </a:rPr>
              <a:t>(+ inbound/outbound rules)</a:t>
            </a:r>
          </a:p>
        </p:txBody>
      </p:sp>
      <p:sp>
        <p:nvSpPr>
          <p:cNvPr id="997" name="Rectangle 996">
            <a:extLst>
              <a:ext uri="{FF2B5EF4-FFF2-40B4-BE49-F238E27FC236}">
                <a16:creationId xmlns:a16="http://schemas.microsoft.com/office/drawing/2014/main" id="{5EC11834-9667-6F2C-6C29-B075A31E9CCC}"/>
              </a:ext>
            </a:extLst>
          </p:cNvPr>
          <p:cNvSpPr/>
          <p:nvPr/>
        </p:nvSpPr>
        <p:spPr>
          <a:xfrm>
            <a:off x="8412940" y="2733347"/>
            <a:ext cx="1282674" cy="3366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ysClr val="windowText" lastClr="000000"/>
                </a:solidFill>
              </a:rPr>
              <a:t>aws_subnet</a:t>
            </a:r>
            <a:endParaRPr lang="en-US" sz="800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700" dirty="0">
                <a:solidFill>
                  <a:sysClr val="windowText" lastClr="000000"/>
                </a:solidFill>
              </a:rPr>
              <a:t>(1×public + 2×private)</a:t>
            </a:r>
          </a:p>
        </p:txBody>
      </p:sp>
      <p:sp>
        <p:nvSpPr>
          <p:cNvPr id="999" name="Rectangle 998">
            <a:extLst>
              <a:ext uri="{FF2B5EF4-FFF2-40B4-BE49-F238E27FC236}">
                <a16:creationId xmlns:a16="http://schemas.microsoft.com/office/drawing/2014/main" id="{64CBEDC8-0970-7E9C-BCA0-6CDD1C53FB1A}"/>
              </a:ext>
            </a:extLst>
          </p:cNvPr>
          <p:cNvSpPr/>
          <p:nvPr/>
        </p:nvSpPr>
        <p:spPr>
          <a:xfrm>
            <a:off x="8412940" y="3117357"/>
            <a:ext cx="1282674" cy="3366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ysClr val="windowText" lastClr="000000"/>
                </a:solidFill>
              </a:rPr>
              <a:t>aws_security_group.web</a:t>
            </a:r>
            <a:endParaRPr lang="en-US" sz="800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700" dirty="0">
                <a:solidFill>
                  <a:sysClr val="windowText" lastClr="000000"/>
                </a:solidFill>
              </a:rPr>
              <a:t>(+ inbound/outbound rules)</a:t>
            </a: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C3310F3A-4FD5-2A8D-8DFC-FFAF7A68264D}"/>
              </a:ext>
            </a:extLst>
          </p:cNvPr>
          <p:cNvSpPr/>
          <p:nvPr/>
        </p:nvSpPr>
        <p:spPr>
          <a:xfrm>
            <a:off x="3593831" y="3197818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availability_zones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33" name="Flowchart: Magnetic Disk 1032">
            <a:extLst>
              <a:ext uri="{FF2B5EF4-FFF2-40B4-BE49-F238E27FC236}">
                <a16:creationId xmlns:a16="http://schemas.microsoft.com/office/drawing/2014/main" id="{D418D5FE-4D9F-2CD3-A25C-AABB14C59F24}"/>
              </a:ext>
            </a:extLst>
          </p:cNvPr>
          <p:cNvSpPr/>
          <p:nvPr/>
        </p:nvSpPr>
        <p:spPr>
          <a:xfrm>
            <a:off x="6778655" y="3128695"/>
            <a:ext cx="1289324" cy="313932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aws_availability_zones</a:t>
            </a:r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389AF6EF-5EC1-28CA-3886-A98033B3BABB}"/>
              </a:ext>
            </a:extLst>
          </p:cNvPr>
          <p:cNvCxnSpPr>
            <a:cxnSpLocks/>
            <a:stCxn id="886" idx="1"/>
          </p:cNvCxnSpPr>
          <p:nvPr/>
        </p:nvCxnSpPr>
        <p:spPr>
          <a:xfrm flipH="1">
            <a:off x="3246630" y="2392043"/>
            <a:ext cx="2153829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3" name="Rectangle 892">
            <a:extLst>
              <a:ext uri="{FF2B5EF4-FFF2-40B4-BE49-F238E27FC236}">
                <a16:creationId xmlns:a16="http://schemas.microsoft.com/office/drawing/2014/main" id="{687C0070-4077-C94B-BEFF-4D8E7CCC28CF}"/>
              </a:ext>
            </a:extLst>
          </p:cNvPr>
          <p:cNvSpPr/>
          <p:nvPr/>
        </p:nvSpPr>
        <p:spPr>
          <a:xfrm>
            <a:off x="6783866" y="2581234"/>
            <a:ext cx="1282674" cy="3366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ysClr val="windowText" lastClr="000000"/>
                </a:solidFill>
              </a:rPr>
              <a:t>aws_internet_gateway</a:t>
            </a:r>
            <a:endParaRPr 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1064" name="Rectangle 1063">
            <a:extLst>
              <a:ext uri="{FF2B5EF4-FFF2-40B4-BE49-F238E27FC236}">
                <a16:creationId xmlns:a16="http://schemas.microsoft.com/office/drawing/2014/main" id="{338851A5-6741-1C4B-8113-9AF3D60F4DCE}"/>
              </a:ext>
            </a:extLst>
          </p:cNvPr>
          <p:cNvSpPr/>
          <p:nvPr/>
        </p:nvSpPr>
        <p:spPr>
          <a:xfrm>
            <a:off x="5400459" y="2876870"/>
            <a:ext cx="1282674" cy="3366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ysClr val="windowText" lastClr="000000"/>
                </a:solidFill>
              </a:rPr>
              <a:t>aws_route_table</a:t>
            </a:r>
            <a:endParaRPr lang="en-US" sz="800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700" dirty="0">
                <a:solidFill>
                  <a:sysClr val="windowText" lastClr="000000"/>
                </a:solidFill>
              </a:rPr>
              <a:t>(+ association)</a:t>
            </a:r>
          </a:p>
        </p:txBody>
      </p:sp>
      <p:sp>
        <p:nvSpPr>
          <p:cNvPr id="1068" name="Rectangle 1067">
            <a:extLst>
              <a:ext uri="{FF2B5EF4-FFF2-40B4-BE49-F238E27FC236}">
                <a16:creationId xmlns:a16="http://schemas.microsoft.com/office/drawing/2014/main" id="{D445BE1B-AAC3-2855-4820-595E6CD9AB97}"/>
              </a:ext>
            </a:extLst>
          </p:cNvPr>
          <p:cNvSpPr/>
          <p:nvPr/>
        </p:nvSpPr>
        <p:spPr>
          <a:xfrm>
            <a:off x="7386417" y="4340248"/>
            <a:ext cx="1282674" cy="3366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ysClr val="windowText" lastClr="000000"/>
                </a:solidFill>
              </a:rPr>
              <a:t>aws_instance</a:t>
            </a:r>
            <a:endParaRPr 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1070" name="Flowchart: Magnetic Disk 1069">
            <a:extLst>
              <a:ext uri="{FF2B5EF4-FFF2-40B4-BE49-F238E27FC236}">
                <a16:creationId xmlns:a16="http://schemas.microsoft.com/office/drawing/2014/main" id="{00DF940A-1353-A911-5A62-7D81D9DC11A8}"/>
              </a:ext>
            </a:extLst>
          </p:cNvPr>
          <p:cNvSpPr/>
          <p:nvPr/>
        </p:nvSpPr>
        <p:spPr>
          <a:xfrm>
            <a:off x="5643335" y="4348376"/>
            <a:ext cx="1289324" cy="313932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ysClr val="windowText" lastClr="000000"/>
                </a:solidFill>
              </a:rPr>
              <a:t>aws_ami</a:t>
            </a:r>
            <a:endParaRPr 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1071" name="Straight Arrow Connector 1070">
            <a:extLst>
              <a:ext uri="{FF2B5EF4-FFF2-40B4-BE49-F238E27FC236}">
                <a16:creationId xmlns:a16="http://schemas.microsoft.com/office/drawing/2014/main" id="{3EF45386-C55E-58E8-412A-616465B7D323}"/>
              </a:ext>
            </a:extLst>
          </p:cNvPr>
          <p:cNvCxnSpPr>
            <a:cxnSpLocks/>
            <a:stCxn id="1068" idx="1"/>
            <a:endCxn id="1070" idx="4"/>
          </p:cNvCxnSpPr>
          <p:nvPr/>
        </p:nvCxnSpPr>
        <p:spPr>
          <a:xfrm flipH="1" flipV="1">
            <a:off x="6932659" y="4505342"/>
            <a:ext cx="453758" cy="3210"/>
          </a:xfrm>
          <a:prstGeom prst="straightConnector1">
            <a:avLst/>
          </a:prstGeom>
          <a:ln w="12700">
            <a:solidFill>
              <a:schemeClr val="accent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8" name="Connector: Elbow 1077">
            <a:extLst>
              <a:ext uri="{FF2B5EF4-FFF2-40B4-BE49-F238E27FC236}">
                <a16:creationId xmlns:a16="http://schemas.microsoft.com/office/drawing/2014/main" id="{E5925FF0-D3F2-0269-1F7A-3D932DD8B1C4}"/>
              </a:ext>
            </a:extLst>
          </p:cNvPr>
          <p:cNvCxnSpPr>
            <a:cxnSpLocks/>
            <a:endCxn id="1068" idx="2"/>
          </p:cNvCxnSpPr>
          <p:nvPr/>
        </p:nvCxnSpPr>
        <p:spPr>
          <a:xfrm flipV="1">
            <a:off x="3246630" y="4676856"/>
            <a:ext cx="4781124" cy="341154"/>
          </a:xfrm>
          <a:prstGeom prst="bent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2" name="Connector: Elbow 1081">
            <a:extLst>
              <a:ext uri="{FF2B5EF4-FFF2-40B4-BE49-F238E27FC236}">
                <a16:creationId xmlns:a16="http://schemas.microsoft.com/office/drawing/2014/main" id="{4B873496-5C94-77A3-9787-3D5D170CFFCF}"/>
              </a:ext>
            </a:extLst>
          </p:cNvPr>
          <p:cNvCxnSpPr>
            <a:cxnSpLocks/>
            <a:stCxn id="1068" idx="3"/>
            <a:endCxn id="572" idx="1"/>
          </p:cNvCxnSpPr>
          <p:nvPr/>
        </p:nvCxnSpPr>
        <p:spPr>
          <a:xfrm flipV="1">
            <a:off x="8669091" y="4392609"/>
            <a:ext cx="1602469" cy="115943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Connector: Elbow 1084">
            <a:extLst>
              <a:ext uri="{FF2B5EF4-FFF2-40B4-BE49-F238E27FC236}">
                <a16:creationId xmlns:a16="http://schemas.microsoft.com/office/drawing/2014/main" id="{78F8E423-8CB8-1172-DFD4-EB99EACF1BF3}"/>
              </a:ext>
            </a:extLst>
          </p:cNvPr>
          <p:cNvCxnSpPr>
            <a:cxnSpLocks/>
            <a:stCxn id="1068" idx="3"/>
            <a:endCxn id="573" idx="1"/>
          </p:cNvCxnSpPr>
          <p:nvPr/>
        </p:nvCxnSpPr>
        <p:spPr>
          <a:xfrm>
            <a:off x="8669091" y="4508552"/>
            <a:ext cx="1602468" cy="129684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4" name="Rectangle 1113">
            <a:extLst>
              <a:ext uri="{FF2B5EF4-FFF2-40B4-BE49-F238E27FC236}">
                <a16:creationId xmlns:a16="http://schemas.microsoft.com/office/drawing/2014/main" id="{4228CDB8-18EE-10D8-C7EA-8474A69B9969}"/>
              </a:ext>
            </a:extLst>
          </p:cNvPr>
          <p:cNvSpPr/>
          <p:nvPr/>
        </p:nvSpPr>
        <p:spPr>
          <a:xfrm>
            <a:off x="6932932" y="6196360"/>
            <a:ext cx="1380796" cy="3366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ysClr val="windowText" lastClr="000000"/>
                </a:solidFill>
              </a:rPr>
              <a:t>aws_ebs_volume</a:t>
            </a:r>
            <a:endParaRPr lang="en-US" sz="800" dirty="0">
              <a:solidFill>
                <a:sysClr val="windowText" lastClr="000000"/>
              </a:solidFill>
            </a:endParaRPr>
          </a:p>
          <a:p>
            <a:pPr algn="ctr"/>
            <a:r>
              <a:rPr lang="en-US" sz="700" dirty="0">
                <a:solidFill>
                  <a:sysClr val="windowText" lastClr="000000"/>
                </a:solidFill>
              </a:rPr>
              <a:t>(+ volume attachment)</a:t>
            </a:r>
          </a:p>
        </p:txBody>
      </p:sp>
      <p:cxnSp>
        <p:nvCxnSpPr>
          <p:cNvPr id="1128" name="Connector: Elbow 1127">
            <a:extLst>
              <a:ext uri="{FF2B5EF4-FFF2-40B4-BE49-F238E27FC236}">
                <a16:creationId xmlns:a16="http://schemas.microsoft.com/office/drawing/2014/main" id="{3B005E55-FC03-EC44-4FA7-7A3A0E5422DB}"/>
              </a:ext>
            </a:extLst>
          </p:cNvPr>
          <p:cNvCxnSpPr>
            <a:cxnSpLocks/>
            <a:stCxn id="1114" idx="0"/>
          </p:cNvCxnSpPr>
          <p:nvPr/>
        </p:nvCxnSpPr>
        <p:spPr>
          <a:xfrm rot="16200000" flipV="1">
            <a:off x="5178045" y="3751075"/>
            <a:ext cx="513870" cy="4376700"/>
          </a:xfrm>
          <a:prstGeom prst="bent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1" name="Connector: Elbow 1130">
            <a:extLst>
              <a:ext uri="{FF2B5EF4-FFF2-40B4-BE49-F238E27FC236}">
                <a16:creationId xmlns:a16="http://schemas.microsoft.com/office/drawing/2014/main" id="{502A5D54-C6C9-CCF1-2091-AA95226DE597}"/>
              </a:ext>
            </a:extLst>
          </p:cNvPr>
          <p:cNvCxnSpPr>
            <a:cxnSpLocks/>
            <a:stCxn id="1114" idx="0"/>
          </p:cNvCxnSpPr>
          <p:nvPr/>
        </p:nvCxnSpPr>
        <p:spPr>
          <a:xfrm rot="16200000" flipV="1">
            <a:off x="5312344" y="3885374"/>
            <a:ext cx="254816" cy="4367156"/>
          </a:xfrm>
          <a:prstGeom prst="bentConnector2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4" name="Rectangle 1183">
            <a:extLst>
              <a:ext uri="{FF2B5EF4-FFF2-40B4-BE49-F238E27FC236}">
                <a16:creationId xmlns:a16="http://schemas.microsoft.com/office/drawing/2014/main" id="{1CC9F3DC-0800-E136-CCD3-6DB72F471C2C}"/>
              </a:ext>
            </a:extLst>
          </p:cNvPr>
          <p:cNvSpPr/>
          <p:nvPr/>
        </p:nvSpPr>
        <p:spPr>
          <a:xfrm>
            <a:off x="-1" y="-1"/>
            <a:ext cx="1516824" cy="25114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dirty="0">
                <a:solidFill>
                  <a:sysClr val="windowText" lastClr="000000"/>
                </a:solidFill>
              </a:rPr>
              <a:t>Legend</a:t>
            </a:r>
          </a:p>
        </p:txBody>
      </p:sp>
      <p:sp>
        <p:nvSpPr>
          <p:cNvPr id="1214" name="Cube 1213">
            <a:extLst>
              <a:ext uri="{FF2B5EF4-FFF2-40B4-BE49-F238E27FC236}">
                <a16:creationId xmlns:a16="http://schemas.microsoft.com/office/drawing/2014/main" id="{E84D5C2B-9914-EE75-0324-154AEE5E60BA}"/>
              </a:ext>
            </a:extLst>
          </p:cNvPr>
          <p:cNvSpPr/>
          <p:nvPr/>
        </p:nvSpPr>
        <p:spPr>
          <a:xfrm>
            <a:off x="96919" y="251905"/>
            <a:ext cx="1284454" cy="271201"/>
          </a:xfrm>
          <a:prstGeom prst="cube">
            <a:avLst>
              <a:gd name="adj" fmla="val 25468"/>
            </a:avLst>
          </a:prstGeom>
          <a:solidFill>
            <a:schemeClr val="bg1">
              <a:lumMod val="7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Module</a:t>
            </a:r>
          </a:p>
        </p:txBody>
      </p:sp>
      <p:sp>
        <p:nvSpPr>
          <p:cNvPr id="1216" name="Rectangle 1215">
            <a:extLst>
              <a:ext uri="{FF2B5EF4-FFF2-40B4-BE49-F238E27FC236}">
                <a16:creationId xmlns:a16="http://schemas.microsoft.com/office/drawing/2014/main" id="{A738EA72-8268-B97A-C339-A4F1473E8C17}"/>
              </a:ext>
            </a:extLst>
          </p:cNvPr>
          <p:cNvSpPr/>
          <p:nvPr/>
        </p:nvSpPr>
        <p:spPr>
          <a:xfrm>
            <a:off x="93942" y="652332"/>
            <a:ext cx="1282674" cy="33660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ysClr val="windowText" lastClr="000000"/>
                </a:solidFill>
              </a:rPr>
              <a:t>Managed resource</a:t>
            </a:r>
          </a:p>
        </p:txBody>
      </p:sp>
      <p:sp>
        <p:nvSpPr>
          <p:cNvPr id="1218" name="Flowchart: Magnetic Disk 1217">
            <a:extLst>
              <a:ext uri="{FF2B5EF4-FFF2-40B4-BE49-F238E27FC236}">
                <a16:creationId xmlns:a16="http://schemas.microsoft.com/office/drawing/2014/main" id="{FE0E1F29-42D4-95E2-A3AB-19636D55845C}"/>
              </a:ext>
            </a:extLst>
          </p:cNvPr>
          <p:cNvSpPr/>
          <p:nvPr/>
        </p:nvSpPr>
        <p:spPr>
          <a:xfrm>
            <a:off x="98630" y="1149681"/>
            <a:ext cx="1289324" cy="313932"/>
          </a:xfrm>
          <a:prstGeom prst="flowChartMagneticDisk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 source</a:t>
            </a:r>
          </a:p>
        </p:txBody>
      </p:sp>
      <p:sp>
        <p:nvSpPr>
          <p:cNvPr id="1220" name="Rectangle 1219">
            <a:extLst>
              <a:ext uri="{FF2B5EF4-FFF2-40B4-BE49-F238E27FC236}">
                <a16:creationId xmlns:a16="http://schemas.microsoft.com/office/drawing/2014/main" id="{56F917E0-99FC-6838-81EF-1BC5EE0ABF92}"/>
              </a:ext>
            </a:extLst>
          </p:cNvPr>
          <p:cNvSpPr/>
          <p:nvPr/>
        </p:nvSpPr>
        <p:spPr>
          <a:xfrm>
            <a:off x="91204" y="1599268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95000"/>
                  </a:schemeClr>
                </a:solidFill>
              </a:rPr>
              <a:t> Module input / output</a:t>
            </a:r>
          </a:p>
        </p:txBody>
      </p:sp>
      <p:cxnSp>
        <p:nvCxnSpPr>
          <p:cNvPr id="1305" name="Connector: Elbow 1304">
            <a:extLst>
              <a:ext uri="{FF2B5EF4-FFF2-40B4-BE49-F238E27FC236}">
                <a16:creationId xmlns:a16="http://schemas.microsoft.com/office/drawing/2014/main" id="{67F4E233-DFC5-96BB-8D90-7644DFF74E4D}"/>
              </a:ext>
            </a:extLst>
          </p:cNvPr>
          <p:cNvCxnSpPr>
            <a:cxnSpLocks/>
            <a:stCxn id="759" idx="2"/>
          </p:cNvCxnSpPr>
          <p:nvPr/>
        </p:nvCxnSpPr>
        <p:spPr>
          <a:xfrm rot="5400000">
            <a:off x="8007779" y="1095367"/>
            <a:ext cx="236139" cy="637015"/>
          </a:xfrm>
          <a:prstGeom prst="bentConnector2">
            <a:avLst/>
          </a:prstGeom>
          <a:ln w="12700">
            <a:solidFill>
              <a:schemeClr val="accent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8" name="Connector: Elbow 1317">
            <a:extLst>
              <a:ext uri="{FF2B5EF4-FFF2-40B4-BE49-F238E27FC236}">
                <a16:creationId xmlns:a16="http://schemas.microsoft.com/office/drawing/2014/main" id="{D6FF004F-DD28-201F-7933-DDF71670E1EA}"/>
              </a:ext>
            </a:extLst>
          </p:cNvPr>
          <p:cNvCxnSpPr>
            <a:cxnSpLocks/>
            <a:stCxn id="886" idx="3"/>
            <a:endCxn id="1548" idx="1"/>
          </p:cNvCxnSpPr>
          <p:nvPr/>
        </p:nvCxnSpPr>
        <p:spPr>
          <a:xfrm>
            <a:off x="6683133" y="2392043"/>
            <a:ext cx="1725350" cy="422351"/>
          </a:xfrm>
          <a:prstGeom prst="bentConnector3">
            <a:avLst>
              <a:gd name="adj1" fmla="val 85296"/>
            </a:avLst>
          </a:prstGeom>
          <a:ln w="12700">
            <a:solidFill>
              <a:schemeClr val="accent5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2" name="Connector: Elbow 1321">
            <a:extLst>
              <a:ext uri="{FF2B5EF4-FFF2-40B4-BE49-F238E27FC236}">
                <a16:creationId xmlns:a16="http://schemas.microsoft.com/office/drawing/2014/main" id="{A947FF5C-3C38-A736-48A9-F9B283749404}"/>
              </a:ext>
            </a:extLst>
          </p:cNvPr>
          <p:cNvCxnSpPr>
            <a:cxnSpLocks/>
            <a:stCxn id="886" idx="3"/>
            <a:endCxn id="893" idx="0"/>
          </p:cNvCxnSpPr>
          <p:nvPr/>
        </p:nvCxnSpPr>
        <p:spPr>
          <a:xfrm>
            <a:off x="6683133" y="2392043"/>
            <a:ext cx="742070" cy="189191"/>
          </a:xfrm>
          <a:prstGeom prst="bentConnector2">
            <a:avLst/>
          </a:prstGeom>
          <a:ln w="12700">
            <a:solidFill>
              <a:schemeClr val="accent5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6" name="Connector: Elbow 1325">
            <a:extLst>
              <a:ext uri="{FF2B5EF4-FFF2-40B4-BE49-F238E27FC236}">
                <a16:creationId xmlns:a16="http://schemas.microsoft.com/office/drawing/2014/main" id="{86AD4E52-D9D9-B2BC-2D5B-2634724174B3}"/>
              </a:ext>
            </a:extLst>
          </p:cNvPr>
          <p:cNvCxnSpPr>
            <a:cxnSpLocks/>
            <a:stCxn id="886" idx="3"/>
            <a:endCxn id="1553" idx="1"/>
          </p:cNvCxnSpPr>
          <p:nvPr/>
        </p:nvCxnSpPr>
        <p:spPr>
          <a:xfrm flipV="1">
            <a:off x="6683133" y="2390506"/>
            <a:ext cx="1725350" cy="1537"/>
          </a:xfrm>
          <a:prstGeom prst="bentConnector3">
            <a:avLst>
              <a:gd name="adj1" fmla="val 46841"/>
            </a:avLst>
          </a:prstGeom>
          <a:ln w="12700">
            <a:solidFill>
              <a:schemeClr val="accent5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9" name="Connector: Elbow 1328">
            <a:extLst>
              <a:ext uri="{FF2B5EF4-FFF2-40B4-BE49-F238E27FC236}">
                <a16:creationId xmlns:a16="http://schemas.microsoft.com/office/drawing/2014/main" id="{D7469452-103B-D3E1-8A44-D04AF0F68847}"/>
              </a:ext>
            </a:extLst>
          </p:cNvPr>
          <p:cNvCxnSpPr>
            <a:cxnSpLocks/>
            <a:stCxn id="886" idx="3"/>
            <a:endCxn id="1358" idx="1"/>
          </p:cNvCxnSpPr>
          <p:nvPr/>
        </p:nvCxnSpPr>
        <p:spPr>
          <a:xfrm>
            <a:off x="6683133" y="2392043"/>
            <a:ext cx="1729807" cy="989801"/>
          </a:xfrm>
          <a:prstGeom prst="bentConnector3">
            <a:avLst>
              <a:gd name="adj1" fmla="val 92070"/>
            </a:avLst>
          </a:prstGeom>
          <a:ln w="12700">
            <a:solidFill>
              <a:schemeClr val="accent5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5" name="Rectangle 1354">
            <a:extLst>
              <a:ext uri="{FF2B5EF4-FFF2-40B4-BE49-F238E27FC236}">
                <a16:creationId xmlns:a16="http://schemas.microsoft.com/office/drawing/2014/main" id="{E2BBBEFA-2E4C-ACE9-A1D0-1906A80D5637}"/>
              </a:ext>
            </a:extLst>
          </p:cNvPr>
          <p:cNvSpPr/>
          <p:nvPr/>
        </p:nvSpPr>
        <p:spPr>
          <a:xfrm>
            <a:off x="8412940" y="3136296"/>
            <a:ext cx="219885" cy="11274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8" name="Rectangle 1357">
            <a:extLst>
              <a:ext uri="{FF2B5EF4-FFF2-40B4-BE49-F238E27FC236}">
                <a16:creationId xmlns:a16="http://schemas.microsoft.com/office/drawing/2014/main" id="{922F92C0-8BB9-C45E-F168-1E5F14C97DEB}"/>
              </a:ext>
            </a:extLst>
          </p:cNvPr>
          <p:cNvSpPr/>
          <p:nvPr/>
        </p:nvSpPr>
        <p:spPr>
          <a:xfrm>
            <a:off x="8412940" y="3325472"/>
            <a:ext cx="219885" cy="11274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71" name="Straight Arrow Connector 1370">
            <a:extLst>
              <a:ext uri="{FF2B5EF4-FFF2-40B4-BE49-F238E27FC236}">
                <a16:creationId xmlns:a16="http://schemas.microsoft.com/office/drawing/2014/main" id="{AB0B8369-A2D5-373F-76C0-B52B3B3D7686}"/>
              </a:ext>
            </a:extLst>
          </p:cNvPr>
          <p:cNvCxnSpPr>
            <a:cxnSpLocks/>
            <a:endCxn id="1376" idx="1"/>
          </p:cNvCxnSpPr>
          <p:nvPr/>
        </p:nvCxnSpPr>
        <p:spPr>
          <a:xfrm>
            <a:off x="120650" y="2080931"/>
            <a:ext cx="358776" cy="0"/>
          </a:xfrm>
          <a:prstGeom prst="straightConnector1">
            <a:avLst/>
          </a:prstGeom>
          <a:ln>
            <a:solidFill>
              <a:schemeClr val="accent5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6" name="TextBox 1375">
            <a:extLst>
              <a:ext uri="{FF2B5EF4-FFF2-40B4-BE49-F238E27FC236}">
                <a16:creationId xmlns:a16="http://schemas.microsoft.com/office/drawing/2014/main" id="{39052A87-38FC-9BC2-C17D-A21B00C23EC3}"/>
              </a:ext>
            </a:extLst>
          </p:cNvPr>
          <p:cNvSpPr txBox="1"/>
          <p:nvPr/>
        </p:nvSpPr>
        <p:spPr>
          <a:xfrm>
            <a:off x="479426" y="1973209"/>
            <a:ext cx="13176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Value flow</a:t>
            </a:r>
          </a:p>
        </p:txBody>
      </p:sp>
      <p:cxnSp>
        <p:nvCxnSpPr>
          <p:cNvPr id="1381" name="Straight Arrow Connector 1380">
            <a:extLst>
              <a:ext uri="{FF2B5EF4-FFF2-40B4-BE49-F238E27FC236}">
                <a16:creationId xmlns:a16="http://schemas.microsoft.com/office/drawing/2014/main" id="{9411CBA9-12AF-8F21-16F3-E87F27BB462D}"/>
              </a:ext>
            </a:extLst>
          </p:cNvPr>
          <p:cNvCxnSpPr>
            <a:cxnSpLocks/>
            <a:endCxn id="1382" idx="1"/>
          </p:cNvCxnSpPr>
          <p:nvPr/>
        </p:nvCxnSpPr>
        <p:spPr>
          <a:xfrm>
            <a:off x="113809" y="2367431"/>
            <a:ext cx="376237" cy="0"/>
          </a:xfrm>
          <a:prstGeom prst="straightConnector1">
            <a:avLst/>
          </a:prstGeom>
          <a:ln w="12700">
            <a:solidFill>
              <a:schemeClr val="accent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2" name="TextBox 1381">
            <a:extLst>
              <a:ext uri="{FF2B5EF4-FFF2-40B4-BE49-F238E27FC236}">
                <a16:creationId xmlns:a16="http://schemas.microsoft.com/office/drawing/2014/main" id="{B7ADE14F-06B2-E505-3C42-26FA478B2417}"/>
              </a:ext>
            </a:extLst>
          </p:cNvPr>
          <p:cNvSpPr txBox="1"/>
          <p:nvPr/>
        </p:nvSpPr>
        <p:spPr>
          <a:xfrm>
            <a:off x="490046" y="2259709"/>
            <a:ext cx="11353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Uses / depends on</a:t>
            </a:r>
          </a:p>
        </p:txBody>
      </p:sp>
      <p:cxnSp>
        <p:nvCxnSpPr>
          <p:cNvPr id="1523" name="Straight Arrow Connector 1522">
            <a:extLst>
              <a:ext uri="{FF2B5EF4-FFF2-40B4-BE49-F238E27FC236}">
                <a16:creationId xmlns:a16="http://schemas.microsoft.com/office/drawing/2014/main" id="{2D40CEB9-A63D-E759-5CE5-5FAE48C44080}"/>
              </a:ext>
            </a:extLst>
          </p:cNvPr>
          <p:cNvCxnSpPr>
            <a:cxnSpLocks/>
            <a:stCxn id="1064" idx="0"/>
            <a:endCxn id="886" idx="2"/>
          </p:cNvCxnSpPr>
          <p:nvPr/>
        </p:nvCxnSpPr>
        <p:spPr>
          <a:xfrm flipV="1">
            <a:off x="6041796" y="2560347"/>
            <a:ext cx="0" cy="316523"/>
          </a:xfrm>
          <a:prstGeom prst="straightConnector1">
            <a:avLst/>
          </a:prstGeom>
          <a:ln w="12700">
            <a:solidFill>
              <a:schemeClr val="accent5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0" name="Connector: Elbow 1529">
            <a:extLst>
              <a:ext uri="{FF2B5EF4-FFF2-40B4-BE49-F238E27FC236}">
                <a16:creationId xmlns:a16="http://schemas.microsoft.com/office/drawing/2014/main" id="{E1D4A0BB-869D-AF36-21ED-F13B863D29AE}"/>
              </a:ext>
            </a:extLst>
          </p:cNvPr>
          <p:cNvCxnSpPr>
            <a:cxnSpLocks/>
            <a:stCxn id="893" idx="1"/>
            <a:endCxn id="1064" idx="0"/>
          </p:cNvCxnSpPr>
          <p:nvPr/>
        </p:nvCxnSpPr>
        <p:spPr>
          <a:xfrm rot="10800000" flipV="1">
            <a:off x="6041796" y="2749538"/>
            <a:ext cx="742070" cy="127332"/>
          </a:xfrm>
          <a:prstGeom prst="bentConnector2">
            <a:avLst/>
          </a:prstGeom>
          <a:ln w="12700">
            <a:solidFill>
              <a:schemeClr val="accent5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4" name="Connector: Elbow 1533">
            <a:extLst>
              <a:ext uri="{FF2B5EF4-FFF2-40B4-BE49-F238E27FC236}">
                <a16:creationId xmlns:a16="http://schemas.microsoft.com/office/drawing/2014/main" id="{6CF60943-C084-62D5-EE74-4B227115520B}"/>
              </a:ext>
            </a:extLst>
          </p:cNvPr>
          <p:cNvCxnSpPr>
            <a:cxnSpLocks/>
            <a:stCxn id="1539" idx="1"/>
            <a:endCxn id="1033" idx="1"/>
          </p:cNvCxnSpPr>
          <p:nvPr/>
        </p:nvCxnSpPr>
        <p:spPr>
          <a:xfrm rot="10800000" flipV="1">
            <a:off x="7423317" y="2952627"/>
            <a:ext cx="985166" cy="176068"/>
          </a:xfrm>
          <a:prstGeom prst="bentConnector2">
            <a:avLst/>
          </a:prstGeom>
          <a:ln w="12700">
            <a:solidFill>
              <a:schemeClr val="accent5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" name="Rectangle 1538">
            <a:extLst>
              <a:ext uri="{FF2B5EF4-FFF2-40B4-BE49-F238E27FC236}">
                <a16:creationId xmlns:a16="http://schemas.microsoft.com/office/drawing/2014/main" id="{A279BEB7-10F2-B04F-A4ED-CC47A092113A}"/>
              </a:ext>
            </a:extLst>
          </p:cNvPr>
          <p:cNvSpPr/>
          <p:nvPr/>
        </p:nvSpPr>
        <p:spPr>
          <a:xfrm>
            <a:off x="8408483" y="2896255"/>
            <a:ext cx="219885" cy="11274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8" name="Rectangle 1547">
            <a:extLst>
              <a:ext uri="{FF2B5EF4-FFF2-40B4-BE49-F238E27FC236}">
                <a16:creationId xmlns:a16="http://schemas.microsoft.com/office/drawing/2014/main" id="{48673E7E-BCF3-B1DC-3127-68F5BDFB0BDF}"/>
              </a:ext>
            </a:extLst>
          </p:cNvPr>
          <p:cNvSpPr/>
          <p:nvPr/>
        </p:nvSpPr>
        <p:spPr>
          <a:xfrm>
            <a:off x="8408483" y="2758022"/>
            <a:ext cx="219885" cy="11274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3" name="Rectangle 1552">
            <a:extLst>
              <a:ext uri="{FF2B5EF4-FFF2-40B4-BE49-F238E27FC236}">
                <a16:creationId xmlns:a16="http://schemas.microsoft.com/office/drawing/2014/main" id="{5E0C3457-4443-DA1B-6629-696B4FA4EB98}"/>
              </a:ext>
            </a:extLst>
          </p:cNvPr>
          <p:cNvSpPr/>
          <p:nvPr/>
        </p:nvSpPr>
        <p:spPr>
          <a:xfrm>
            <a:off x="8408483" y="2358815"/>
            <a:ext cx="219885" cy="6338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0" name="Connector: Elbow 1559">
            <a:extLst>
              <a:ext uri="{FF2B5EF4-FFF2-40B4-BE49-F238E27FC236}">
                <a16:creationId xmlns:a16="http://schemas.microsoft.com/office/drawing/2014/main" id="{1E46DDDC-FFE1-F425-8CC4-5E823ECBC57E}"/>
              </a:ext>
            </a:extLst>
          </p:cNvPr>
          <p:cNvCxnSpPr>
            <a:cxnSpLocks/>
            <a:stCxn id="1598" idx="2"/>
            <a:endCxn id="999" idx="2"/>
          </p:cNvCxnSpPr>
          <p:nvPr/>
        </p:nvCxnSpPr>
        <p:spPr>
          <a:xfrm rot="16200000" flipH="1">
            <a:off x="6304593" y="704280"/>
            <a:ext cx="1510529" cy="3988839"/>
          </a:xfrm>
          <a:prstGeom prst="bentConnector3">
            <a:avLst>
              <a:gd name="adj1" fmla="val 108319"/>
            </a:avLst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8" name="Rectangle 1597">
            <a:extLst>
              <a:ext uri="{FF2B5EF4-FFF2-40B4-BE49-F238E27FC236}">
                <a16:creationId xmlns:a16="http://schemas.microsoft.com/office/drawing/2014/main" id="{0417F147-D09F-16F2-DE3F-98D68D4A98B0}"/>
              </a:ext>
            </a:extLst>
          </p:cNvPr>
          <p:cNvSpPr/>
          <p:nvPr/>
        </p:nvSpPr>
        <p:spPr>
          <a:xfrm>
            <a:off x="4943916" y="1739666"/>
            <a:ext cx="243044" cy="20377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03" name="Straight Arrow Connector 1602">
            <a:extLst>
              <a:ext uri="{FF2B5EF4-FFF2-40B4-BE49-F238E27FC236}">
                <a16:creationId xmlns:a16="http://schemas.microsoft.com/office/drawing/2014/main" id="{0CEFEF4A-F595-64F2-5E7D-A90801AFB4D3}"/>
              </a:ext>
            </a:extLst>
          </p:cNvPr>
          <p:cNvCxnSpPr>
            <a:cxnSpLocks/>
          </p:cNvCxnSpPr>
          <p:nvPr/>
        </p:nvCxnSpPr>
        <p:spPr>
          <a:xfrm>
            <a:off x="4873963" y="1610110"/>
            <a:ext cx="1656058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Rectangle 550">
            <a:extLst>
              <a:ext uri="{FF2B5EF4-FFF2-40B4-BE49-F238E27FC236}">
                <a16:creationId xmlns:a16="http://schemas.microsoft.com/office/drawing/2014/main" id="{3313E321-9ACF-07D2-495C-74321F31B59F}"/>
              </a:ext>
            </a:extLst>
          </p:cNvPr>
          <p:cNvSpPr/>
          <p:nvPr/>
        </p:nvSpPr>
        <p:spPr>
          <a:xfrm>
            <a:off x="3590553" y="4941087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user_data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E64F60-8303-2B65-7AC4-333E85F76D59}"/>
              </a:ext>
            </a:extLst>
          </p:cNvPr>
          <p:cNvSpPr/>
          <p:nvPr/>
        </p:nvSpPr>
        <p:spPr>
          <a:xfrm>
            <a:off x="7576578" y="4340248"/>
            <a:ext cx="219885" cy="6388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9" name="Rectangle 568">
            <a:extLst>
              <a:ext uri="{FF2B5EF4-FFF2-40B4-BE49-F238E27FC236}">
                <a16:creationId xmlns:a16="http://schemas.microsoft.com/office/drawing/2014/main" id="{03C20564-25E5-C23D-DB92-1AE24BA67D9D}"/>
              </a:ext>
            </a:extLst>
          </p:cNvPr>
          <p:cNvSpPr/>
          <p:nvPr/>
        </p:nvSpPr>
        <p:spPr>
          <a:xfrm>
            <a:off x="3593831" y="3993158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public_ip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616F4A3-2A59-E598-F055-A119CC4BE4B8}"/>
              </a:ext>
            </a:extLst>
          </p:cNvPr>
          <p:cNvSpPr/>
          <p:nvPr/>
        </p:nvSpPr>
        <p:spPr>
          <a:xfrm>
            <a:off x="8193055" y="4340248"/>
            <a:ext cx="219885" cy="8954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0D5C298F-A5E8-F0BD-B4C8-E7CAA1AC5D29}"/>
              </a:ext>
            </a:extLst>
          </p:cNvPr>
          <p:cNvSpPr/>
          <p:nvPr/>
        </p:nvSpPr>
        <p:spPr>
          <a:xfrm>
            <a:off x="3590553" y="6275122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size_gb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B28537BD-978A-091E-87D0-BEBC5DB9D099}"/>
              </a:ext>
            </a:extLst>
          </p:cNvPr>
          <p:cNvSpPr/>
          <p:nvPr/>
        </p:nvSpPr>
        <p:spPr>
          <a:xfrm>
            <a:off x="3589510" y="5595538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availability_zone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4DAE9D58-11D1-4D9F-CDA2-42D721240204}"/>
              </a:ext>
            </a:extLst>
          </p:cNvPr>
          <p:cNvSpPr/>
          <p:nvPr/>
        </p:nvSpPr>
        <p:spPr>
          <a:xfrm>
            <a:off x="3589509" y="5841165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volume_id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A334EE5C-69EC-507B-791D-8464810D84DC}"/>
              </a:ext>
            </a:extLst>
          </p:cNvPr>
          <p:cNvSpPr/>
          <p:nvPr/>
        </p:nvSpPr>
        <p:spPr>
          <a:xfrm>
            <a:off x="3593831" y="2308822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vpc_id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748546-5113-33E4-9C50-33730F6ABFF6}"/>
              </a:ext>
            </a:extLst>
          </p:cNvPr>
          <p:cNvSpPr/>
          <p:nvPr/>
        </p:nvSpPr>
        <p:spPr>
          <a:xfrm>
            <a:off x="3589509" y="1447711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95000"/>
                  </a:schemeClr>
                </a:solidFill>
              </a:rPr>
              <a:t>namespace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8129DE-8797-FF90-6F9D-D75199286DBF}"/>
              </a:ext>
            </a:extLst>
          </p:cNvPr>
          <p:cNvSpPr/>
          <p:nvPr/>
        </p:nvSpPr>
        <p:spPr>
          <a:xfrm>
            <a:off x="3593832" y="630114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db_name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80AA8C-A3A4-6526-CC40-95DCBCBBDC59}"/>
              </a:ext>
            </a:extLst>
          </p:cNvPr>
          <p:cNvSpPr/>
          <p:nvPr/>
        </p:nvSpPr>
        <p:spPr>
          <a:xfrm>
            <a:off x="3593831" y="903336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db_username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017D0B-1948-D640-7617-A4D01B9E39DE}"/>
              </a:ext>
            </a:extLst>
          </p:cNvPr>
          <p:cNvSpPr/>
          <p:nvPr/>
        </p:nvSpPr>
        <p:spPr>
          <a:xfrm>
            <a:off x="3593831" y="1175510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db_password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D9D23D-F062-141F-B0EE-5538F6B65C2C}"/>
              </a:ext>
            </a:extLst>
          </p:cNvPr>
          <p:cNvSpPr/>
          <p:nvPr/>
        </p:nvSpPr>
        <p:spPr>
          <a:xfrm>
            <a:off x="823176" y="4079526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95000"/>
                  </a:schemeClr>
                </a:solidFill>
              </a:rPr>
              <a:t>region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8191BFEA-A323-CE73-71B3-101C1C69AE0A}"/>
              </a:ext>
            </a:extLst>
          </p:cNvPr>
          <p:cNvSpPr/>
          <p:nvPr/>
        </p:nvSpPr>
        <p:spPr>
          <a:xfrm>
            <a:off x="823177" y="3013584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db_name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EA51BE06-5205-71A1-2303-219B4BF5A2CF}"/>
              </a:ext>
            </a:extLst>
          </p:cNvPr>
          <p:cNvSpPr/>
          <p:nvPr/>
        </p:nvSpPr>
        <p:spPr>
          <a:xfrm>
            <a:off x="823176" y="3286806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db_username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F2FF2A0A-93F3-B33E-085D-8EED0423AEFD}"/>
              </a:ext>
            </a:extLst>
          </p:cNvPr>
          <p:cNvSpPr/>
          <p:nvPr/>
        </p:nvSpPr>
        <p:spPr>
          <a:xfrm>
            <a:off x="823176" y="3552016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db_password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A1B2662-E071-FD1E-9B02-993B4D7B013D}"/>
              </a:ext>
            </a:extLst>
          </p:cNvPr>
          <p:cNvSpPr/>
          <p:nvPr/>
        </p:nvSpPr>
        <p:spPr>
          <a:xfrm>
            <a:off x="823176" y="3817226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>
                    <a:lumMod val="95000"/>
                  </a:schemeClr>
                </a:solidFill>
              </a:rPr>
              <a:t>namespace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7C05BB-0EFD-1DD8-D313-38886E0460C0}"/>
              </a:ext>
            </a:extLst>
          </p:cNvPr>
          <p:cNvSpPr/>
          <p:nvPr/>
        </p:nvSpPr>
        <p:spPr>
          <a:xfrm>
            <a:off x="823176" y="4792351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wordpress_url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DC2BE7-B053-5A67-609C-DF89BE2CFC74}"/>
              </a:ext>
            </a:extLst>
          </p:cNvPr>
          <p:cNvSpPr/>
          <p:nvPr/>
        </p:nvSpPr>
        <p:spPr>
          <a:xfrm>
            <a:off x="823176" y="5063212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rds_endpoint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B2C2BE-AC00-BC31-9D4D-1368132F4E74}"/>
              </a:ext>
            </a:extLst>
          </p:cNvPr>
          <p:cNvSpPr/>
          <p:nvPr/>
        </p:nvSpPr>
        <p:spPr>
          <a:xfrm>
            <a:off x="823176" y="5330783"/>
            <a:ext cx="1284454" cy="17908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bg1">
                    <a:lumMod val="95000"/>
                  </a:schemeClr>
                </a:solidFill>
              </a:rPr>
              <a:t>ebs_volume_id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921F0D4-4C35-0D6A-3F07-EC127D1BF6CC}"/>
              </a:ext>
            </a:extLst>
          </p:cNvPr>
          <p:cNvSpPr/>
          <p:nvPr/>
        </p:nvSpPr>
        <p:spPr>
          <a:xfrm>
            <a:off x="8834392" y="964057"/>
            <a:ext cx="251300" cy="16344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89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</Words>
  <Application>Microsoft Office PowerPoint</Application>
  <PresentationFormat>Widescreen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Sergey Krutikov</dc:creator>
  <cp:lastModifiedBy>Sergey Krutikov</cp:lastModifiedBy>
  <cp:revision>80</cp:revision>
  <dcterms:created xsi:type="dcterms:W3CDTF">2026-10-04T11:04:16Z</dcterms:created>
  <dcterms:modified xsi:type="dcterms:W3CDTF">2026-10-04T22:15:19Z</dcterms:modified>
</cp:coreProperties>
</file>